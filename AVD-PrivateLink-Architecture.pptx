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</a:rPr>
              <a:t>Azure Virtual Desktop — Private Link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End-to-end private connectivity via SD-WAN + AVD Private Link  |  Azure China (21Vianet)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011680" cy="3657600"/>
          </a:xfrm>
          <a:prstGeom prst="roundRect">
            <a:avLst/>
          </a:prstGeom>
          <a:solidFill>
            <a:srgbClr val="2E7D32"/>
          </a:solidFill>
          <a:ln w="381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🏢 On-Premises Offices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45920" cy="118872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🖥️ Thin Clients
(Shenzhen)
🔒 10.1.1.0/24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645920" cy="118872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🖥️ Thin Clients
(Dalian)
🔒 10.2.1.0/24</a:t>
            </a:r>
          </a:p>
        </p:txBody>
      </p:sp>
      <p:sp>
        <p:nvSpPr>
          <p:cNvPr id="8" name="Oval 7"/>
          <p:cNvSpPr/>
          <p:nvPr/>
        </p:nvSpPr>
        <p:spPr>
          <a:xfrm>
            <a:off x="2468880" y="1920240"/>
            <a:ext cx="1280160" cy="1280160"/>
          </a:xfrm>
          <a:prstGeom prst="ellipse">
            <a:avLst/>
          </a:prstGeom>
          <a:solidFill>
            <a:srgbClr val="006000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🔒
SD-WAN
Private
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914400"/>
            <a:ext cx="3657600" cy="5303520"/>
          </a:xfrm>
          <a:prstGeom prst="roundRect">
            <a:avLst/>
          </a:prstGeom>
          <a:solidFill>
            <a:srgbClr val="1565C0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☁️ Azure China East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743200" cy="54864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🔗 VNet Gateway · SD-WAN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194560"/>
            <a:ext cx="3108960" cy="18288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AVD Control Plane · Private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606040"/>
            <a:ext cx="1325880" cy="118872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🔗
Private Endpoint
Workspace
Feed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606040"/>
            <a:ext cx="1325880" cy="118872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🔗
Private Endpoint
Host Pool
RDP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206240"/>
            <a:ext cx="3108960" cy="1645920"/>
          </a:xfrm>
          <a:prstGeom prst="roundRect">
            <a:avLst/>
          </a:prstGeom>
          <a:solidFill>
            <a:srgbClr val="0277BD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Business App VNet · 10.10.0.0/16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4663440"/>
            <a:ext cx="2377440" cy="914400"/>
          </a:xfrm>
          <a:prstGeom prst="roundRect">
            <a:avLst/>
          </a:prstGeom>
          <a:solidFill>
            <a:srgbClr val="039BE5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🖧 Business Application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914400"/>
            <a:ext cx="3200400" cy="5303520"/>
          </a:xfrm>
          <a:prstGeom prst="roundRect">
            <a:avLst/>
          </a:prstGeom>
          <a:solidFill>
            <a:srgbClr val="E65100"/>
          </a:solidFill>
          <a:ln w="381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987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☁️ Azure China North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371600"/>
            <a:ext cx="2834640" cy="457200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Session Host VNet · 10.20.0.0/16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828800"/>
            <a:ext cx="2468880" cy="1097280"/>
          </a:xfrm>
          <a:prstGeom prst="roundRect">
            <a:avLst/>
          </a:prstGeom>
          <a:solidFill>
            <a:srgbClr val="F47B1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🖥️ Windows Session Host VM
Desktop &amp; RemoteApp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108960"/>
            <a:ext cx="2468880" cy="73152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🔗 VNet Peering ↔ China East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023360"/>
            <a:ext cx="2468880" cy="731520"/>
          </a:xfrm>
          <a:prstGeom prst="roundRect">
            <a:avLst/>
          </a:prstGeom>
          <a:solidFill>
            <a:srgbClr val="BF360C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🔒 Private DNS Zone
privatelink.wvd.azure.cn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37760"/>
            <a:ext cx="2468880" cy="731520"/>
          </a:xfrm>
          <a:prstGeom prst="roundRect">
            <a:avLst/>
          </a:prstGeom>
          <a:solidFill>
            <a:srgbClr val="BF360C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🛡️ NSG · Outbound Rules
Allow UDP 3390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91440"/>
            <a:ext cx="2286000" cy="594360"/>
          </a:xfrm>
          <a:prstGeom prst="roundRect">
            <a:avLst/>
          </a:prstGeom>
          <a:solidFill>
            <a:srgbClr val="F9A825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</a:rPr>
              <a:t>🌐 Azure Entra ID (Public Endpoint)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240280"/>
            <a:ext cx="182880" cy="13716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331720" y="192024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60904" y="19019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Initiate Connection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286000" y="2743200"/>
            <a:ext cx="182880" cy="96012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331720" y="370332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3685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Initiate Connection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749040" y="1645920.0"/>
            <a:ext cx="1280160" cy="914400.0"/>
          </a:xfrm>
          <a:prstGeom prst="line">
            <a:avLst/>
          </a:prstGeom>
          <a:ln w="38100">
            <a:solidFill>
              <a:srgbClr val="00C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931920" y="173736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4" y="17190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SD-WAN Private Transit</a:t>
            </a:r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6172200.0" y="685800"/>
            <a:ext cx="228600.0" cy="68580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486400" y="749808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7315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Entra ID Auth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5646420.0" y="388620.0"/>
            <a:ext cx="1668780.0" cy="221742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92240" y="13716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21424" y="1188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Auth Token Issued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09360" y="3200400.0"/>
            <a:ext cx="137160" cy="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035040" y="256032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4224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Feed Discovery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7772400" y="2286000"/>
            <a:ext cx="1097280" cy="91440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955279" y="182880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3" y="18105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RDP Reverse Connect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7955280" y="2926080"/>
            <a:ext cx="914400" cy="205740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589520" y="365760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18704" y="36393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VNet Peering to App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7955280" y="3200400"/>
            <a:ext cx="914400" cy="205740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589520" y="416052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8704" y="41422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Return Data</a:t>
            </a:r>
          </a:p>
        </p:txBody>
      </p:sp>
      <p:cxnSp>
        <p:nvCxnSpPr>
          <p:cNvPr id="55" name="Connector 54"/>
          <p:cNvCxnSpPr/>
          <p:nvPr/>
        </p:nvCxnSpPr>
        <p:spPr>
          <a:xfrm flipH="1" flipV="1">
            <a:off x="7772400" y="1645920.0"/>
            <a:ext cx="1097280" cy="36576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589520" y="1051560"/>
            <a:ext cx="292608" cy="292608"/>
          </a:xfrm>
          <a:prstGeom prst="ellipse">
            <a:avLst/>
          </a:prstGeom>
          <a:solidFill>
            <a:srgbClr val="D50000"/>
          </a:solidFill>
          <a:ln w="25400">
            <a:solidFill>
              <a:srgbClr val="D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18704" y="10332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RDP Shortpath · UDP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3749040" y="1645920.0"/>
            <a:ext cx="1280160" cy="64008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3566160" y="1097280"/>
            <a:ext cx="292608" cy="292608"/>
          </a:xfrm>
          <a:prstGeom prst="ellipse">
            <a:avLst/>
          </a:prstGeom>
          <a:solidFill>
            <a:srgbClr val="D50000"/>
          </a:solidFill>
          <a:ln w="25400">
            <a:solidFill>
              <a:srgbClr val="D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95344" y="10789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SD-WAN Transit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2286000" y="2240280"/>
            <a:ext cx="182880" cy="18288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286000" y="2880360"/>
            <a:ext cx="182880" cy="100584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432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</a:rPr>
              <a:t>Legend: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20040" y="5486400"/>
            <a:ext cx="50292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68680" y="5376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①~⑧ Initial Connection Flow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20040" y="5760720"/>
            <a:ext cx="502920" cy="0"/>
          </a:xfrm>
          <a:prstGeom prst="line">
            <a:avLst/>
          </a:prstGeom>
          <a:ln w="38100">
            <a:solidFill>
              <a:srgbClr val="FF6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868680" y="56509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⑨ RDP Shortpath (Direct UDP)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20040" y="6035040"/>
            <a:ext cx="502920" cy="0"/>
          </a:xfrm>
          <a:prstGeom prst="line">
            <a:avLst/>
          </a:prstGeom>
          <a:ln w="38100">
            <a:solidFill>
              <a:srgbClr val="00C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68680" y="59253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SD-WAN Private Transit (Inbound)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74320" y="6217920"/>
            <a:ext cx="548640" cy="228600"/>
          </a:xfrm>
          <a:prstGeom prst="roundRect">
            <a:avLst/>
          </a:prstGeom>
          <a:solidFill>
            <a:srgbClr val="F9A825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61996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⚠️ Public Endpoint (Entra ID only)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