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D47A1"/>
                </a:solidFill>
              </a:rPr>
              <a:t>Azure Virtual Desktop — Private Link Architecture (v3)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114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End-to-end private connectivity via SD-WAN + AVD Private Link  |  Azure China (21Vianet)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1737360" cy="5029200"/>
          </a:xfrm>
          <a:prstGeom prst="roundRect">
            <a:avLst/>
          </a:prstGeom>
          <a:solidFill>
            <a:srgbClr val="2E7D32"/>
          </a:solidFill>
          <a:ln w="381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822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</a:rPr>
              <a:t>🏢 On-Premises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1463040" cy="82296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</a:rPr>
              <a:t>🖥️ Thin Clients
(Shenzhen)
10.1.1.0/24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194560"/>
            <a:ext cx="1463040" cy="822960"/>
          </a:xfrm>
          <a:prstGeom prst="roundRect">
            <a:avLst/>
          </a:prstGeom>
          <a:solidFill>
            <a:srgbClr val="388E3C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</a:rPr>
              <a:t>🖥️ Thin Clients
(Dalian)
10.2.1.0/24</a:t>
            </a:r>
          </a:p>
        </p:txBody>
      </p:sp>
      <p:sp>
        <p:nvSpPr>
          <p:cNvPr id="8" name="Oval 7"/>
          <p:cNvSpPr/>
          <p:nvPr/>
        </p:nvSpPr>
        <p:spPr>
          <a:xfrm>
            <a:off x="2103120" y="3200400"/>
            <a:ext cx="1005840" cy="1005840"/>
          </a:xfrm>
          <a:prstGeom prst="ellipse">
            <a:avLst/>
          </a:prstGeom>
          <a:solidFill>
            <a:srgbClr val="006000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1">
                <a:solidFill>
                  <a:srgbClr val="FFFFFF"/>
                </a:solidFill>
              </a:rPr>
              <a:t>🔒
SD-WAN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777240"/>
            <a:ext cx="3474720" cy="5029200"/>
          </a:xfrm>
          <a:prstGeom prst="roundRect">
            <a:avLst/>
          </a:prstGeom>
          <a:solidFill>
            <a:srgbClr val="1565C0"/>
          </a:solidFill>
          <a:ln w="3810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822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☁️ Azure China East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1143000"/>
            <a:ext cx="2926080" cy="411480"/>
          </a:xfrm>
          <a:prstGeom prst="roundRect">
            <a:avLst/>
          </a:prstGeom>
          <a:solidFill>
            <a:srgbClr val="0D47A1"/>
          </a:solidFill>
          <a:ln w="2540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🔗 VNet Gateway · SD-WAN Hub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1783080"/>
            <a:ext cx="3108960" cy="155448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181051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AVD Control Plane · Private Link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103120"/>
            <a:ext cx="1371600" cy="1051560"/>
          </a:xfrm>
          <a:prstGeom prst="roundRect">
            <a:avLst/>
          </a:prstGeom>
          <a:solidFill>
            <a:srgbClr val="42A5F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</a:rPr>
              <a:t>🔗 Private Endpoint
Workspace
Feed Discovery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103120"/>
            <a:ext cx="1371600" cy="1051560"/>
          </a:xfrm>
          <a:prstGeom prst="roundRect">
            <a:avLst/>
          </a:prstGeom>
          <a:solidFill>
            <a:srgbClr val="42A5F5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00" b="0">
                <a:solidFill>
                  <a:srgbClr val="FFFFFF"/>
                </a:solidFill>
              </a:rPr>
              <a:t>🔗 Private Endpoint
Host Pool
RDP Connection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3566160"/>
            <a:ext cx="3108960" cy="2011680"/>
          </a:xfrm>
          <a:prstGeom prst="roundRect">
            <a:avLst/>
          </a:prstGeom>
          <a:solidFill>
            <a:srgbClr val="0277BD"/>
          </a:solidFill>
          <a:ln w="12700">
            <a:solidFill>
              <a:srgbClr val="0157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59359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Business App VNet · 10.10.0.0/16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3931920"/>
            <a:ext cx="2560320" cy="640080"/>
          </a:xfrm>
          <a:prstGeom prst="roundRect">
            <a:avLst/>
          </a:prstGeom>
          <a:solidFill>
            <a:srgbClr val="039BE5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🖧 Business Application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0" y="4754880"/>
            <a:ext cx="2560320" cy="594360"/>
          </a:xfrm>
          <a:prstGeom prst="roundRect">
            <a:avLst/>
          </a:prstGeom>
          <a:solidFill>
            <a:srgbClr val="01579B"/>
          </a:solidFill>
          <a:ln w="1270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🔗 VNet Peering ↔ China North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777240"/>
            <a:ext cx="3474720" cy="5029200"/>
          </a:xfrm>
          <a:prstGeom prst="roundRect">
            <a:avLst/>
          </a:prstGeom>
          <a:solidFill>
            <a:srgbClr val="E65100"/>
          </a:solidFill>
          <a:ln w="381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822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☁️ Azure China North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26680" y="1143000"/>
            <a:ext cx="3200400" cy="4434840"/>
          </a:xfrm>
          <a:prstGeom prst="roundRect">
            <a:avLst/>
          </a:prstGeom>
          <a:solidFill>
            <a:srgbClr val="EF6C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11704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</a:rPr>
              <a:t>Session Host VNet · 10.20.0.0/16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1463040"/>
            <a:ext cx="2926080" cy="822960"/>
          </a:xfrm>
          <a:prstGeom prst="roundRect">
            <a:avLst/>
          </a:prstGeom>
          <a:solidFill>
            <a:srgbClr val="F47B13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🖥️ Session Host VM
Desktop &amp; RemoteApp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2468880"/>
            <a:ext cx="2926080" cy="548640"/>
          </a:xfrm>
          <a:prstGeom prst="roundRect">
            <a:avLst/>
          </a:prstGeom>
          <a:solidFill>
            <a:srgbClr val="EF6C0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🔗 VNet Peering ↔ China East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40" y="3200400"/>
            <a:ext cx="2926080" cy="548640"/>
          </a:xfrm>
          <a:prstGeom prst="roundRect">
            <a:avLst/>
          </a:prstGeom>
          <a:solidFill>
            <a:srgbClr val="BF360C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🔒 Private DNS Zone
privatelink.wvd.azure.cn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63840" y="3931920"/>
            <a:ext cx="2926080" cy="548640"/>
          </a:xfrm>
          <a:prstGeom prst="roundRect">
            <a:avLst/>
          </a:prstGeom>
          <a:solidFill>
            <a:srgbClr val="BF360C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🛡️ NSG · Outbound Rules
Allow UDP 3390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663440"/>
            <a:ext cx="2926080" cy="548640"/>
          </a:xfrm>
          <a:prstGeom prst="roundRect">
            <a:avLst/>
          </a:prstGeom>
          <a:solidFill>
            <a:srgbClr val="F47B13"/>
          </a:solidFill>
          <a:ln w="12700">
            <a:solidFill>
              <a:srgbClr val="BF36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</a:rPr>
              <a:t>⚡ RDP Shortpath · UDP 3390
Managed Networks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73152"/>
            <a:ext cx="2011680" cy="457200"/>
          </a:xfrm>
          <a:prstGeom prst="roundRect">
            <a:avLst/>
          </a:prstGeom>
          <a:solidFill>
            <a:srgbClr val="F9A825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000000"/>
                </a:solidFill>
              </a:rPr>
              <a:t>🌐 Entra ID (Public)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1051560.0" y="530352"/>
            <a:ext cx="1143000.0" cy="658368"/>
          </a:xfrm>
          <a:prstGeom prst="line">
            <a:avLst/>
          </a:prstGeom>
          <a:ln w="25400">
            <a:solidFill>
              <a:srgbClr val="F9A825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051560.0" y="530352"/>
            <a:ext cx="594360.0" cy="1664208"/>
          </a:xfrm>
          <a:prstGeom prst="line">
            <a:avLst/>
          </a:prstGeom>
          <a:ln w="25400">
            <a:solidFill>
              <a:srgbClr val="F9A825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82880" y="566928"/>
            <a:ext cx="256032" cy="256032"/>
          </a:xfrm>
          <a:prstGeom prst="ellipse">
            <a:avLst/>
          </a:prstGeom>
          <a:solidFill>
            <a:srgbClr val="F9A825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5577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</a:rPr>
              <a:t>Entra ID Auth
⚠️ Public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868680.0" y="530352"/>
            <a:ext cx="45720.0" cy="658368"/>
          </a:xfrm>
          <a:prstGeom prst="line">
            <a:avLst/>
          </a:prstGeom>
          <a:ln w="25400">
            <a:solidFill>
              <a:srgbClr val="F9A825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22960" y="530352"/>
            <a:ext cx="45720.0" cy="1664208"/>
          </a:xfrm>
          <a:prstGeom prst="line">
            <a:avLst/>
          </a:prstGeom>
          <a:ln w="25400">
            <a:solidFill>
              <a:srgbClr val="F9A825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011680" y="566928"/>
            <a:ext cx="256032" cy="256032"/>
          </a:xfrm>
          <a:prstGeom prst="ellipse">
            <a:avLst/>
          </a:prstGeom>
          <a:solidFill>
            <a:srgbClr val="F9A825"/>
          </a:solidFill>
          <a:ln w="254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04288" y="5577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</a:rPr>
              <a:t>Token Returned
⚠️ Public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920240" y="1600200.0"/>
            <a:ext cx="182880" cy="1965960.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920240" y="2606040.0"/>
            <a:ext cx="182880" cy="1234440.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1965960" y="1371600"/>
            <a:ext cx="256032" cy="256032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58568" y="13624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</a:rPr>
              <a:t>Token · SD-WAN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3108960" y="1348740.0"/>
            <a:ext cx="822960" cy="2354580.0"/>
          </a:xfrm>
          <a:prstGeom prst="line">
            <a:avLst/>
          </a:prstGeom>
          <a:ln w="38100">
            <a:solidFill>
              <a:srgbClr val="00C8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3017520" y="2286000"/>
            <a:ext cx="256032" cy="256032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③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10128" y="22768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</a:rPr>
              <a:t>SD-WAN Transit</a:t>
            </a:r>
          </a:p>
        </p:txBody>
      </p:sp>
      <p:cxnSp>
        <p:nvCxnSpPr>
          <p:cNvPr id="45" name="Connector 44"/>
          <p:cNvCxnSpPr/>
          <p:nvPr/>
        </p:nvCxnSpPr>
        <p:spPr>
          <a:xfrm flipH="1">
            <a:off x="4617720.0" y="1554480"/>
            <a:ext cx="502920.0" cy="54864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3703320" y="1325880"/>
            <a:ext cx="256032" cy="256032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④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95928" y="13167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</a:rPr>
              <a:t>Feed Discovery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303520" y="2628900.0"/>
            <a:ext cx="137160" cy="0.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5212080" y="3172968"/>
            <a:ext cx="256032" cy="256032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04688" y="31638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</a:rPr>
              <a:t>Session Request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6812280" y="1874520.0"/>
            <a:ext cx="1051560" cy="754380.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7040880" y="2400300"/>
            <a:ext cx="256032" cy="256032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⑥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33488" y="23911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</a:rPr>
              <a:t>Reverse Connect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6675120" y="2011680.0"/>
            <a:ext cx="1188720" cy="2148840.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7086600" y="3794760"/>
            <a:ext cx="256032" cy="256032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79208" y="3785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</a:rPr>
              <a:t>VNet Peering</a:t>
            </a:r>
          </a:p>
        </p:txBody>
      </p:sp>
      <p:cxnSp>
        <p:nvCxnSpPr>
          <p:cNvPr id="57" name="Connector 56"/>
          <p:cNvCxnSpPr/>
          <p:nvPr/>
        </p:nvCxnSpPr>
        <p:spPr>
          <a:xfrm flipV="1">
            <a:off x="6675120" y="2194560.0"/>
            <a:ext cx="1188720" cy="2148840.0"/>
          </a:xfrm>
          <a:prstGeom prst="line">
            <a:avLst/>
          </a:prstGeom>
          <a:ln w="25400">
            <a:solidFill>
              <a:srgbClr val="1A73E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086600" y="4251960"/>
            <a:ext cx="256032" cy="256032"/>
          </a:xfrm>
          <a:prstGeom prst="ellipse">
            <a:avLst/>
          </a:prstGeom>
          <a:solidFill>
            <a:srgbClr val="1A73E8"/>
          </a:solidFill>
          <a:ln w="254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⑧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79208" y="42428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</a:rPr>
              <a:t>Return Data</a:t>
            </a:r>
          </a:p>
        </p:txBody>
      </p:sp>
      <p:cxnSp>
        <p:nvCxnSpPr>
          <p:cNvPr id="60" name="Connector 59"/>
          <p:cNvCxnSpPr/>
          <p:nvPr/>
        </p:nvCxnSpPr>
        <p:spPr>
          <a:xfrm flipH="1" flipV="1">
            <a:off x="6858000" y="1348740.0"/>
            <a:ext cx="1005840" cy="205740.0"/>
          </a:xfrm>
          <a:prstGeom prst="line">
            <a:avLst/>
          </a:prstGeom>
          <a:ln w="38100">
            <a:solidFill>
              <a:srgbClr val="FF6D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7040880" y="1005840"/>
            <a:ext cx="256032" cy="256032"/>
          </a:xfrm>
          <a:prstGeom prst="ellipse">
            <a:avLst/>
          </a:prstGeom>
          <a:solidFill>
            <a:srgbClr val="D50000"/>
          </a:solidFill>
          <a:ln w="25400">
            <a:solidFill>
              <a:srgbClr val="D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33488" y="9966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</a:rPr>
              <a:t>Shortpath · UDP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3108960" y="1303020.0"/>
            <a:ext cx="822960" cy="2217420.0"/>
          </a:xfrm>
          <a:prstGeom prst="line">
            <a:avLst/>
          </a:prstGeom>
          <a:ln w="38100">
            <a:solidFill>
              <a:srgbClr val="FF6D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3017520" y="1005840"/>
            <a:ext cx="256032" cy="256032"/>
          </a:xfrm>
          <a:prstGeom prst="ellipse">
            <a:avLst/>
          </a:prstGeom>
          <a:solidFill>
            <a:srgbClr val="D50000"/>
          </a:solidFill>
          <a:ln w="25400">
            <a:solidFill>
              <a:srgbClr val="D5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</a:rPr>
              <a:t>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10128" y="9966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</a:rPr>
              <a:t>SD-WAN Return</a:t>
            </a:r>
          </a:p>
        </p:txBody>
      </p:sp>
      <p:cxnSp>
        <p:nvCxnSpPr>
          <p:cNvPr id="66" name="Connector 65"/>
          <p:cNvCxnSpPr/>
          <p:nvPr/>
        </p:nvCxnSpPr>
        <p:spPr>
          <a:xfrm flipH="1" flipV="1">
            <a:off x="1920240" y="1737360.0"/>
            <a:ext cx="182880" cy="1691640.0"/>
          </a:xfrm>
          <a:prstGeom prst="line">
            <a:avLst/>
          </a:prstGeom>
          <a:ln w="38100">
            <a:solidFill>
              <a:srgbClr val="FF6D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H="1" flipV="1">
            <a:off x="1920240" y="2743200.0"/>
            <a:ext cx="182880" cy="1234440.0"/>
          </a:xfrm>
          <a:prstGeom prst="line">
            <a:avLst/>
          </a:prstGeom>
          <a:ln w="38100">
            <a:solidFill>
              <a:srgbClr val="FF6D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182880" y="5989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</a:rPr>
              <a:t>Legend: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82880" y="6217920"/>
            <a:ext cx="457200" cy="0"/>
          </a:xfrm>
          <a:prstGeom prst="line">
            <a:avLst/>
          </a:prstGeom>
          <a:ln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85800" y="614476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</a:rPr>
              <a:t>①② Entra ID Auth (⚠️ Public Internet)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82880" y="6419088"/>
            <a:ext cx="457200" cy="0"/>
          </a:xfrm>
          <a:prstGeom prst="line">
            <a:avLst/>
          </a:prstGeom>
          <a:ln w="25400">
            <a:solidFill>
              <a:srgbClr val="1A7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85800" y="634593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</a:rPr>
              <a:t>③~⑧ Private Connection Flow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82880" y="6620256"/>
            <a:ext cx="457200" cy="0"/>
          </a:xfrm>
          <a:prstGeom prst="line">
            <a:avLst/>
          </a:prstGeom>
          <a:ln w="38100">
            <a:solidFill>
              <a:srgbClr val="FF6D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85800" y="654710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</a:rPr>
              <a:t>⑨ RDP Shortpath (UDP · Private)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182880" y="6821424"/>
            <a:ext cx="457200" cy="0"/>
          </a:xfrm>
          <a:prstGeom prst="line">
            <a:avLst/>
          </a:prstGeom>
          <a:ln w="38100">
            <a:solidFill>
              <a:srgbClr val="00C8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685800" y="67482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</a:rPr>
              <a:t>SD-WAN Private Transit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