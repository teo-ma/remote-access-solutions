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47A1"/>
                </a:solidFill>
              </a:rPr>
              <a:t>Azure Virtual Desktop — Private Link Architecture (v2)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End-to-end private connectivity via SD-WAN + AVD Private Link  |  Azure China (21Vianet)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2011680" cy="3657600"/>
          </a:xfrm>
          <a:prstGeom prst="roundRect">
            <a:avLst/>
          </a:prstGeom>
          <a:solidFill>
            <a:srgbClr val="2E7D32"/>
          </a:solidFill>
          <a:ln w="381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🏢 On-Premises Offices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1645920" cy="1188720"/>
          </a:xfrm>
          <a:prstGeom prst="roundRect">
            <a:avLst/>
          </a:prstGeom>
          <a:solidFill>
            <a:srgbClr val="388E3C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🖥️ Thin Clients
(Shenzhen)
🔒 10.1.1.0/24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1645920" cy="1188720"/>
          </a:xfrm>
          <a:prstGeom prst="roundRect">
            <a:avLst/>
          </a:prstGeom>
          <a:solidFill>
            <a:srgbClr val="388E3C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🖥️ Thin Clients
(Dalian)
🔒 10.2.1.0/24</a:t>
            </a:r>
          </a:p>
        </p:txBody>
      </p:sp>
      <p:sp>
        <p:nvSpPr>
          <p:cNvPr id="8" name="Oval 7"/>
          <p:cNvSpPr/>
          <p:nvPr/>
        </p:nvSpPr>
        <p:spPr>
          <a:xfrm>
            <a:off x="2468880" y="2560320"/>
            <a:ext cx="1280160" cy="1280160"/>
          </a:xfrm>
          <a:prstGeom prst="ellipse">
            <a:avLst/>
          </a:prstGeom>
          <a:solidFill>
            <a:srgbClr val="006000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🔒
SD-WAN
Private
Network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914400"/>
            <a:ext cx="3657600" cy="5303520"/>
          </a:xfrm>
          <a:prstGeom prst="roundRect">
            <a:avLst/>
          </a:prstGeom>
          <a:solidFill>
            <a:srgbClr val="1565C0"/>
          </a:solidFill>
          <a:ln w="381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9875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☁️ Azure China East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371600"/>
            <a:ext cx="2743200" cy="548640"/>
          </a:xfrm>
          <a:prstGeom prst="roundRect">
            <a:avLst/>
          </a:prstGeom>
          <a:solidFill>
            <a:srgbClr val="0D47A1"/>
          </a:solidFill>
          <a:ln w="25400">
            <a:solidFill>
              <a:srgbClr val="015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🔗 VNet Gateway · SD-WAN Hub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2194560"/>
            <a:ext cx="3108960" cy="1828800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2402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AVD Control Plane · Private Link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2606040"/>
            <a:ext cx="1325880" cy="1188720"/>
          </a:xfrm>
          <a:prstGeom prst="roundRect">
            <a:avLst/>
          </a:prstGeom>
          <a:solidFill>
            <a:srgbClr val="42A5F5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🔗
Private Endpoint
Workspace
Feed Discovery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606040"/>
            <a:ext cx="1325880" cy="1188720"/>
          </a:xfrm>
          <a:prstGeom prst="roundRect">
            <a:avLst/>
          </a:prstGeom>
          <a:solidFill>
            <a:srgbClr val="42A5F5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🔗
Private Endpoint
Host Pool
RDP Connection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4206240"/>
            <a:ext cx="3108960" cy="1645920"/>
          </a:xfrm>
          <a:prstGeom prst="roundRect">
            <a:avLst/>
          </a:prstGeom>
          <a:solidFill>
            <a:srgbClr val="0277BD"/>
          </a:solidFill>
          <a:ln w="12700">
            <a:solidFill>
              <a:srgbClr val="015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251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Business App VNet · 10.10.0.0/16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4663440"/>
            <a:ext cx="2377440" cy="914400"/>
          </a:xfrm>
          <a:prstGeom prst="roundRect">
            <a:avLst/>
          </a:prstGeom>
          <a:solidFill>
            <a:srgbClr val="039BE5"/>
          </a:solidFill>
          <a:ln w="1270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🖧 Business Application Server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914400"/>
            <a:ext cx="3200400" cy="5303520"/>
          </a:xfrm>
          <a:prstGeom prst="roundRect">
            <a:avLst/>
          </a:prstGeom>
          <a:solidFill>
            <a:srgbClr val="E65100"/>
          </a:solidFill>
          <a:ln w="3810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9875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☁️ Azure China North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1371600"/>
            <a:ext cx="2834640" cy="4572000"/>
          </a:xfrm>
          <a:prstGeom prst="roundRect">
            <a:avLst/>
          </a:prstGeom>
          <a:solidFill>
            <a:srgbClr val="EF6C0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1417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Session Host VNet · 10.20.0.0/16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1828800"/>
            <a:ext cx="2468880" cy="1097280"/>
          </a:xfrm>
          <a:prstGeom prst="roundRect">
            <a:avLst/>
          </a:prstGeom>
          <a:solidFill>
            <a:srgbClr val="F47B13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🖥️ Windows Session Host VM
Desktop &amp; RemoteApp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3108960"/>
            <a:ext cx="2468880" cy="731520"/>
          </a:xfrm>
          <a:prstGeom prst="roundRect">
            <a:avLst/>
          </a:prstGeom>
          <a:solidFill>
            <a:srgbClr val="EF6C0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🔗 VNet Peering ↔ China East 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4023360"/>
            <a:ext cx="2468880" cy="731520"/>
          </a:xfrm>
          <a:prstGeom prst="roundRect">
            <a:avLst/>
          </a:prstGeom>
          <a:solidFill>
            <a:srgbClr val="BF360C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🔒 Private DNS Zone
privatelink.wvd.azure.cn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4937760"/>
            <a:ext cx="2468880" cy="731520"/>
          </a:xfrm>
          <a:prstGeom prst="roundRect">
            <a:avLst/>
          </a:prstGeom>
          <a:solidFill>
            <a:srgbClr val="BF360C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🛡️ NSG · Outbound Rules
Allow UDP 3390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1600" y="91440"/>
            <a:ext cx="2286000" cy="594360"/>
          </a:xfrm>
          <a:prstGeom prst="roundRect">
            <a:avLst/>
          </a:prstGeom>
          <a:solidFill>
            <a:srgbClr val="F9A825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</a:rPr>
              <a:t>🌐 Azure Entra ID (Public Endpoint)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1645920" y="685800"/>
            <a:ext cx="182880" cy="960120"/>
          </a:xfrm>
          <a:prstGeom prst="line">
            <a:avLst/>
          </a:prstGeom>
          <a:ln w="38100">
            <a:solidFill>
              <a:srgbClr val="F9A825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828800" y="685800"/>
            <a:ext cx="0" cy="2423160"/>
          </a:xfrm>
          <a:prstGeom prst="line">
            <a:avLst/>
          </a:prstGeom>
          <a:ln w="38100">
            <a:solidFill>
              <a:srgbClr val="F9A825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57200" y="749808"/>
            <a:ext cx="292608" cy="292608"/>
          </a:xfrm>
          <a:prstGeom prst="ellipse">
            <a:avLst/>
          </a:prstGeom>
          <a:solidFill>
            <a:srgbClr val="F9A825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73152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Entra ID Auth
⚠️ Public Internet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1280160.0" y="685800"/>
            <a:ext cx="182880.0" cy="960120"/>
          </a:xfrm>
          <a:prstGeom prst="line">
            <a:avLst/>
          </a:prstGeom>
          <a:ln w="25400">
            <a:solidFill>
              <a:srgbClr val="F9A825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1280160.0" y="685800"/>
            <a:ext cx="365760.0" cy="2423160"/>
          </a:xfrm>
          <a:prstGeom prst="line">
            <a:avLst/>
          </a:prstGeom>
          <a:ln w="25400">
            <a:solidFill>
              <a:srgbClr val="F9A825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2468880" y="749808"/>
            <a:ext cx="292608" cy="292608"/>
          </a:xfrm>
          <a:prstGeom prst="ellipse">
            <a:avLst/>
          </a:prstGeom>
          <a:solidFill>
            <a:srgbClr val="F9A825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98064" y="731520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Token Returned
⚠️ Public Internet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286000" y="2240280.0"/>
            <a:ext cx="182880" cy="777240.0"/>
          </a:xfrm>
          <a:prstGeom prst="line">
            <a:avLst/>
          </a:prstGeom>
          <a:ln w="25400">
            <a:solidFill>
              <a:srgbClr val="1A73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286000" y="3383280"/>
            <a:ext cx="182880" cy="320040.0"/>
          </a:xfrm>
          <a:prstGeom prst="line">
            <a:avLst/>
          </a:prstGeom>
          <a:ln w="25400">
            <a:solidFill>
              <a:srgbClr val="1A73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2331720" y="1920240"/>
            <a:ext cx="292608" cy="292608"/>
          </a:xfrm>
          <a:prstGeom prst="ellipse">
            <a:avLst/>
          </a:prstGeom>
          <a:solidFill>
            <a:srgbClr val="1A73E8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60904" y="190195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With Token · SD-WAN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3749040" y="1645920.0"/>
            <a:ext cx="1280160" cy="1554480.0"/>
          </a:xfrm>
          <a:prstGeom prst="line">
            <a:avLst/>
          </a:prstGeom>
          <a:ln w="38100">
            <a:solidFill>
              <a:srgbClr val="00C8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3749039" y="2286000"/>
            <a:ext cx="292608" cy="292608"/>
          </a:xfrm>
          <a:prstGeom prst="ellipse">
            <a:avLst/>
          </a:prstGeom>
          <a:solidFill>
            <a:srgbClr val="1A73E8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78223" y="226771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SD-WAN Private Transit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5646420.0" y="1920240"/>
            <a:ext cx="754380.0" cy="685800"/>
          </a:xfrm>
          <a:prstGeom prst="line">
            <a:avLst/>
          </a:prstGeom>
          <a:ln w="25400">
            <a:solidFill>
              <a:srgbClr val="1A73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4846320" y="1600200"/>
            <a:ext cx="292608" cy="292608"/>
          </a:xfrm>
          <a:prstGeom prst="ellipse">
            <a:avLst/>
          </a:prstGeom>
          <a:solidFill>
            <a:srgbClr val="1A73E8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75504" y="158191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Feed Discovery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309360" y="3200400.0"/>
            <a:ext cx="137160" cy="0.0"/>
          </a:xfrm>
          <a:prstGeom prst="line">
            <a:avLst/>
          </a:prstGeom>
          <a:ln w="25400">
            <a:solidFill>
              <a:srgbClr val="1A73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6035040" y="2560320"/>
            <a:ext cx="292608" cy="292608"/>
          </a:xfrm>
          <a:prstGeom prst="ellipse">
            <a:avLst/>
          </a:prstGeom>
          <a:solidFill>
            <a:srgbClr val="1A73E8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64224" y="254203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RDP Session Request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7772400" y="2286000"/>
            <a:ext cx="1097280" cy="914400.0"/>
          </a:xfrm>
          <a:prstGeom prst="line">
            <a:avLst/>
          </a:prstGeom>
          <a:ln w="25400">
            <a:solidFill>
              <a:srgbClr val="1A73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955279" y="1828800"/>
            <a:ext cx="292608" cy="292608"/>
          </a:xfrm>
          <a:prstGeom prst="ellipse">
            <a:avLst/>
          </a:prstGeom>
          <a:solidFill>
            <a:srgbClr val="1A73E8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84463" y="181051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RDP Reverse Connect</a:t>
            </a:r>
          </a:p>
        </p:txBody>
      </p:sp>
      <p:cxnSp>
        <p:nvCxnSpPr>
          <p:cNvPr id="52" name="Connector 51"/>
          <p:cNvCxnSpPr/>
          <p:nvPr/>
        </p:nvCxnSpPr>
        <p:spPr>
          <a:xfrm flipH="1">
            <a:off x="7955280" y="2926080"/>
            <a:ext cx="914400" cy="2057400"/>
          </a:xfrm>
          <a:prstGeom prst="line">
            <a:avLst/>
          </a:prstGeom>
          <a:ln w="25400">
            <a:solidFill>
              <a:srgbClr val="1A73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7589520" y="3657600"/>
            <a:ext cx="292608" cy="292608"/>
          </a:xfrm>
          <a:prstGeom prst="ellipse">
            <a:avLst/>
          </a:prstGeom>
          <a:solidFill>
            <a:srgbClr val="1A73E8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18704" y="363931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VNet Peering to App</a:t>
            </a:r>
          </a:p>
        </p:txBody>
      </p:sp>
      <p:cxnSp>
        <p:nvCxnSpPr>
          <p:cNvPr id="55" name="Connector 54"/>
          <p:cNvCxnSpPr/>
          <p:nvPr/>
        </p:nvCxnSpPr>
        <p:spPr>
          <a:xfrm flipV="1">
            <a:off x="7955280" y="3200400"/>
            <a:ext cx="914400" cy="2057400"/>
          </a:xfrm>
          <a:prstGeom prst="line">
            <a:avLst/>
          </a:prstGeom>
          <a:ln w="25400">
            <a:solidFill>
              <a:srgbClr val="1A73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7589520" y="4160520"/>
            <a:ext cx="292608" cy="292608"/>
          </a:xfrm>
          <a:prstGeom prst="ellipse">
            <a:avLst/>
          </a:prstGeom>
          <a:solidFill>
            <a:srgbClr val="1A73E8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⑧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18704" y="414223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Return Data</a:t>
            </a:r>
          </a:p>
        </p:txBody>
      </p:sp>
      <p:cxnSp>
        <p:nvCxnSpPr>
          <p:cNvPr id="58" name="Connector 57"/>
          <p:cNvCxnSpPr/>
          <p:nvPr/>
        </p:nvCxnSpPr>
        <p:spPr>
          <a:xfrm flipH="1" flipV="1">
            <a:off x="7772400" y="1645920.0"/>
            <a:ext cx="1097280" cy="365760.0"/>
          </a:xfrm>
          <a:prstGeom prst="line">
            <a:avLst/>
          </a:prstGeom>
          <a:ln w="38100">
            <a:solidFill>
              <a:srgbClr val="FF6D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7589520" y="1051560"/>
            <a:ext cx="292608" cy="292608"/>
          </a:xfrm>
          <a:prstGeom prst="ellipse">
            <a:avLst/>
          </a:prstGeom>
          <a:solidFill>
            <a:srgbClr val="D50000"/>
          </a:solidFill>
          <a:ln w="25400">
            <a:solidFill>
              <a:srgbClr val="D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18704" y="103327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RDP Shortpath · UDP</a:t>
            </a:r>
          </a:p>
        </p:txBody>
      </p:sp>
      <p:cxnSp>
        <p:nvCxnSpPr>
          <p:cNvPr id="61" name="Connector 60"/>
          <p:cNvCxnSpPr/>
          <p:nvPr/>
        </p:nvCxnSpPr>
        <p:spPr>
          <a:xfrm flipH="1">
            <a:off x="3749040" y="1645920.0"/>
            <a:ext cx="1280160" cy="1280160.0"/>
          </a:xfrm>
          <a:prstGeom prst="line">
            <a:avLst/>
          </a:prstGeom>
          <a:ln w="38100">
            <a:solidFill>
              <a:srgbClr val="FF6D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3566160" y="1097280"/>
            <a:ext cx="292608" cy="292608"/>
          </a:xfrm>
          <a:prstGeom prst="ellipse">
            <a:avLst/>
          </a:prstGeom>
          <a:solidFill>
            <a:srgbClr val="D50000"/>
          </a:solidFill>
          <a:ln w="25400">
            <a:solidFill>
              <a:srgbClr val="D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95344" y="107899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SD-WAN Transit</a:t>
            </a:r>
          </a:p>
        </p:txBody>
      </p:sp>
      <p:cxnSp>
        <p:nvCxnSpPr>
          <p:cNvPr id="64" name="Connector 63"/>
          <p:cNvCxnSpPr/>
          <p:nvPr/>
        </p:nvCxnSpPr>
        <p:spPr>
          <a:xfrm flipH="1" flipV="1">
            <a:off x="2286000" y="2423160.0"/>
            <a:ext cx="182880" cy="457200.0"/>
          </a:xfrm>
          <a:prstGeom prst="line">
            <a:avLst/>
          </a:prstGeom>
          <a:ln w="38100">
            <a:solidFill>
              <a:srgbClr val="FF6D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H="1">
            <a:off x="2286000" y="3520440"/>
            <a:ext cx="182880" cy="365760.0"/>
          </a:xfrm>
          <a:prstGeom prst="line">
            <a:avLst/>
          </a:prstGeom>
          <a:ln w="38100">
            <a:solidFill>
              <a:srgbClr val="FF6D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274320" y="5120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</a:rPr>
              <a:t>Legend: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320040" y="5486400"/>
            <a:ext cx="502920" cy="0"/>
          </a:xfrm>
          <a:prstGeom prst="line">
            <a:avLst/>
          </a:prstGeom>
          <a:ln w="381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868680" y="53766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①② Entra ID Auth (⚠️ Public Internet)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320040" y="5760720"/>
            <a:ext cx="502920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868680" y="565099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③~⑧ Private Connection Flow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320040" y="6035040"/>
            <a:ext cx="502920" cy="0"/>
          </a:xfrm>
          <a:prstGeom prst="line">
            <a:avLst/>
          </a:prstGeom>
          <a:ln w="38100">
            <a:solidFill>
              <a:srgbClr val="FF6D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68680" y="59253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⑨ RDP Shortpath (Direct UDP · Private)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320040" y="6309360"/>
            <a:ext cx="502920" cy="0"/>
          </a:xfrm>
          <a:prstGeom prst="line">
            <a:avLst/>
          </a:prstGeom>
          <a:ln w="38100">
            <a:solidFill>
              <a:srgbClr val="00C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868680" y="61996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</a:rPr>
              <a:t>SD-WAN Private Transit (Inbound)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